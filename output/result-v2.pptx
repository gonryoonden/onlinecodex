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7EEE6"/>
            </a:gs>
            <a:gs pos="100000">
              <a:srgbClr val="BCE1D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351520" y="2086407"/>
            <a:ext cx="2327630" cy="244055"/>
          </a:xfrm>
          <a:prstGeom prst="roundRect">
            <a:avLst>
              <a:gd name="adj" fmla="val 29270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Path 3"/>
          <p:cNvSpPr/>
          <p:nvPr/>
        </p:nvSpPr>
        <p:spPr>
          <a:xfrm>
            <a:off x="3274126" y="2171820"/>
            <a:ext cx="95248" cy="7323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3" y="0"/>
                </a:moveTo>
                <a:lnTo>
                  <a:pt x="3" y="10799"/>
                </a:lnTo>
                <a:lnTo>
                  <a:pt x="17553" y="21598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4030170" y="2622186"/>
            <a:ext cx="1232283" cy="398844"/>
          </a:xfrm>
          <a:prstGeom prst="roundRect">
            <a:avLst>
              <a:gd name="adj" fmla="val 17911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3952776" y="2761779"/>
            <a:ext cx="95248" cy="11965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0" y="-3"/>
                </a:moveTo>
                <a:lnTo>
                  <a:pt x="0" y="10797"/>
                </a:lnTo>
                <a:lnTo>
                  <a:pt x="17550" y="21596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030170" y="3402021"/>
            <a:ext cx="1762081" cy="410761"/>
          </a:xfrm>
          <a:prstGeom prst="roundRect">
            <a:avLst>
              <a:gd name="adj" fmla="val 17391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3952776" y="3545778"/>
            <a:ext cx="95248" cy="12324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0" y="-2"/>
                </a:moveTo>
                <a:lnTo>
                  <a:pt x="0" y="10797"/>
                </a:lnTo>
                <a:lnTo>
                  <a:pt x="17550" y="21595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178978" y="4753341"/>
            <a:ext cx="1381090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4101584" y="4926248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4" y="2"/>
                </a:moveTo>
                <a:lnTo>
                  <a:pt x="4" y="10802"/>
                </a:lnTo>
                <a:lnTo>
                  <a:pt x="17554" y="21602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178978" y="5437927"/>
            <a:ext cx="1381090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4101584" y="5610835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4" y="3"/>
                </a:moveTo>
                <a:lnTo>
                  <a:pt x="4" y="10803"/>
                </a:lnTo>
                <a:lnTo>
                  <a:pt x="17554" y="21603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7304296" y="4937855"/>
            <a:ext cx="1303696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th 13"/>
          <p:cNvSpPr/>
          <p:nvPr/>
        </p:nvSpPr>
        <p:spPr>
          <a:xfrm>
            <a:off x="7226902" y="5110807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3" y="0"/>
                </a:moveTo>
                <a:lnTo>
                  <a:pt x="3" y="10800"/>
                </a:lnTo>
                <a:lnTo>
                  <a:pt x="17553" y="21599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7304296" y="5824854"/>
            <a:ext cx="1357301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th 15"/>
          <p:cNvSpPr/>
          <p:nvPr/>
        </p:nvSpPr>
        <p:spPr>
          <a:xfrm>
            <a:off x="7226902" y="5997806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3" y="-1"/>
                </a:moveTo>
                <a:lnTo>
                  <a:pt x="3" y="10799"/>
                </a:lnTo>
                <a:lnTo>
                  <a:pt x="17553" y="21599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10084331" y="4937855"/>
            <a:ext cx="1535879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ath 17"/>
          <p:cNvSpPr/>
          <p:nvPr/>
        </p:nvSpPr>
        <p:spPr>
          <a:xfrm>
            <a:off x="10006936" y="5110807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4" y="0"/>
                </a:moveTo>
                <a:lnTo>
                  <a:pt x="4" y="10800"/>
                </a:lnTo>
                <a:lnTo>
                  <a:pt x="17554" y="21599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0084331" y="5830835"/>
            <a:ext cx="1535879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ath 19"/>
          <p:cNvSpPr/>
          <p:nvPr/>
        </p:nvSpPr>
        <p:spPr>
          <a:xfrm>
            <a:off x="10006936" y="6003742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4" y="1"/>
                </a:moveTo>
                <a:lnTo>
                  <a:pt x="4" y="10801"/>
                </a:lnTo>
                <a:lnTo>
                  <a:pt x="17554" y="21601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0" name="notebook"/>
          <p:cNvPicPr/>
          <p:nvPr/>
        </p:nvPicPr>
        <p:blipFill>
          <a:blip r:embed="rId2"/>
          <a:stretch>
            <a:fillRect/>
          </a:stretch>
        </p:blipFill>
        <p:spPr>
          <a:xfrm>
            <a:off x="428437" y="1415332"/>
            <a:ext cx="2125572" cy="2848214"/>
          </a:xfrm>
          <a:prstGeom prst="rect">
            <a:avLst/>
          </a:prstGeom>
        </p:spPr>
      </p:pic>
      <p:pic>
        <p:nvPicPr>
          <p:cNvPr id="21" name="vertical-ruler"/>
          <p:cNvPicPr/>
          <p:nvPr/>
        </p:nvPicPr>
        <p:blipFill>
          <a:blip r:embed="rId3"/>
          <a:stretch>
            <a:fillRect/>
          </a:stretch>
        </p:blipFill>
        <p:spPr>
          <a:xfrm>
            <a:off x="2382608" y="1423218"/>
            <a:ext cx="598377" cy="2838379"/>
          </a:xfrm>
          <a:prstGeom prst="rect">
            <a:avLst/>
          </a:prstGeom>
        </p:spPr>
      </p:pic>
      <p:pic>
        <p:nvPicPr>
          <p:cNvPr id="22" name="clipboard"/>
          <p:cNvPicPr/>
          <p:nvPr/>
        </p:nvPicPr>
        <p:blipFill>
          <a:blip r:embed="rId4"/>
          <a:stretch>
            <a:fillRect/>
          </a:stretch>
        </p:blipFill>
        <p:spPr>
          <a:xfrm>
            <a:off x="8051481" y="1423218"/>
            <a:ext cx="2125041" cy="2856321"/>
          </a:xfrm>
          <a:prstGeom prst="rect">
            <a:avLst/>
          </a:prstGeom>
        </p:spPr>
      </p:pic>
      <p:pic>
        <p:nvPicPr>
          <p:cNvPr id="23" name="blue-folder"/>
          <p:cNvPicPr/>
          <p:nvPr/>
        </p:nvPicPr>
        <p:blipFill>
          <a:blip r:embed="rId5"/>
          <a:stretch>
            <a:fillRect/>
          </a:stretch>
        </p:blipFill>
        <p:spPr>
          <a:xfrm>
            <a:off x="515888" y="4370179"/>
            <a:ext cx="1861316" cy="2230744"/>
          </a:xfrm>
          <a:prstGeom prst="rect">
            <a:avLst/>
          </a:prstGeom>
        </p:spPr>
      </p:pic>
      <p:pic>
        <p:nvPicPr>
          <p:cNvPr id="24" name="tablet-stylus"/>
          <p:cNvPicPr/>
          <p:nvPr/>
        </p:nvPicPr>
        <p:blipFill>
          <a:blip r:embed="rId6"/>
          <a:stretch>
            <a:fillRect/>
          </a:stretch>
        </p:blipFill>
        <p:spPr>
          <a:xfrm>
            <a:off x="10045789" y="2071212"/>
            <a:ext cx="1743917" cy="2161545"/>
          </a:xfrm>
          <a:prstGeom prst="rect">
            <a:avLst/>
          </a:prstGeom>
        </p:spPr>
      </p:pic>
      <p:pic>
        <p:nvPicPr>
          <p:cNvPr id="25" name="desk-cluster"/>
          <p:cNvPicPr/>
          <p:nvPr/>
        </p:nvPicPr>
        <p:blipFill>
          <a:blip r:embed="rId7"/>
          <a:stretch>
            <a:fillRect/>
          </a:stretch>
        </p:blipFill>
        <p:spPr>
          <a:xfrm>
            <a:off x="6351466" y="1398764"/>
            <a:ext cx="1816394" cy="2854638"/>
          </a:xfrm>
          <a:prstGeom prst="rect">
            <a:avLst/>
          </a:prstGeom>
        </p:spPr>
      </p:pic>
      <p:pic>
        <p:nvPicPr>
          <p:cNvPr id="26" name="horizontal-ruler"/>
          <p:cNvPicPr/>
          <p:nvPr/>
        </p:nvPicPr>
        <p:blipFill>
          <a:blip r:embed="rId8"/>
          <a:stretch>
            <a:fillRect/>
          </a:stretch>
        </p:blipFill>
        <p:spPr>
          <a:xfrm>
            <a:off x="2810425" y="1456577"/>
            <a:ext cx="2583691" cy="503616"/>
          </a:xfrm>
          <a:prstGeom prst="rect">
            <a:avLst/>
          </a:prstGeom>
        </p:spPr>
      </p:pic>
      <p:pic>
        <p:nvPicPr>
          <p:cNvPr id="27" name="pencil"/>
          <p:cNvPicPr/>
          <p:nvPr/>
        </p:nvPicPr>
        <p:blipFill>
          <a:blip r:embed="rId9"/>
          <a:stretch>
            <a:fillRect/>
          </a:stretch>
        </p:blipFill>
        <p:spPr>
          <a:xfrm>
            <a:off x="2878737" y="1794684"/>
            <a:ext cx="1942431" cy="339303"/>
          </a:xfrm>
          <a:prstGeom prst="rect">
            <a:avLst/>
          </a:prstGeom>
        </p:spPr>
      </p:pic>
      <p:pic>
        <p:nvPicPr>
          <p:cNvPr id="28" name="pink-eraser"/>
          <p:cNvPicPr/>
          <p:nvPr/>
        </p:nvPicPr>
        <p:blipFill>
          <a:blip r:embed="rId10"/>
          <a:stretch>
            <a:fillRect/>
          </a:stretch>
        </p:blipFill>
        <p:spPr>
          <a:xfrm>
            <a:off x="2868061" y="2056858"/>
            <a:ext cx="448993" cy="315026"/>
          </a:xfrm>
          <a:prstGeom prst="rect">
            <a:avLst/>
          </a:prstGeom>
        </p:spPr>
      </p:pic>
      <p:pic>
        <p:nvPicPr>
          <p:cNvPr id="29" name="yellow-note"/>
          <p:cNvPicPr/>
          <p:nvPr/>
        </p:nvPicPr>
        <p:blipFill>
          <a:blip r:embed="rId11"/>
          <a:stretch>
            <a:fillRect/>
          </a:stretch>
        </p:blipFill>
        <p:spPr>
          <a:xfrm>
            <a:off x="2863941" y="2528976"/>
            <a:ext cx="838268" cy="864981"/>
          </a:xfrm>
          <a:prstGeom prst="rect">
            <a:avLst/>
          </a:prstGeom>
        </p:spPr>
      </p:pic>
      <p:pic>
        <p:nvPicPr>
          <p:cNvPr id="30" name="paperclips"/>
          <p:cNvPicPr/>
          <p:nvPr/>
        </p:nvPicPr>
        <p:blipFill>
          <a:blip r:embed="rId12"/>
          <a:stretch>
            <a:fillRect/>
          </a:stretch>
        </p:blipFill>
        <p:spPr>
          <a:xfrm>
            <a:off x="3610372" y="2580986"/>
            <a:ext cx="375276" cy="778815"/>
          </a:xfrm>
          <a:prstGeom prst="rect">
            <a:avLst/>
          </a:prstGeom>
        </p:spPr>
      </p:pic>
      <p:pic>
        <p:nvPicPr>
          <p:cNvPr id="31" name="small-calendar"/>
          <p:cNvPicPr/>
          <p:nvPr/>
        </p:nvPicPr>
        <p:blipFill>
          <a:blip r:embed="rId13"/>
          <a:stretch>
            <a:fillRect/>
          </a:stretch>
        </p:blipFill>
        <p:spPr>
          <a:xfrm>
            <a:off x="2865314" y="3321127"/>
            <a:ext cx="823560" cy="852311"/>
          </a:xfrm>
          <a:prstGeom prst="rect">
            <a:avLst/>
          </a:prstGeom>
        </p:spPr>
      </p:pic>
      <p:pic>
        <p:nvPicPr>
          <p:cNvPr id="32" name="blue-eraser"/>
          <p:cNvPicPr/>
          <p:nvPr/>
        </p:nvPicPr>
        <p:blipFill>
          <a:blip r:embed="rId14"/>
          <a:stretch>
            <a:fillRect/>
          </a:stretch>
        </p:blipFill>
        <p:spPr>
          <a:xfrm>
            <a:off x="3599695" y="3428114"/>
            <a:ext cx="378731" cy="626375"/>
          </a:xfrm>
          <a:prstGeom prst="rect">
            <a:avLst/>
          </a:prstGeom>
        </p:spPr>
      </p:pic>
      <p:pic>
        <p:nvPicPr>
          <p:cNvPr id="33" name="glasses"/>
          <p:cNvPicPr/>
          <p:nvPr/>
        </p:nvPicPr>
        <p:blipFill>
          <a:blip r:embed="rId15"/>
          <a:stretch>
            <a:fillRect/>
          </a:stretch>
        </p:blipFill>
        <p:spPr>
          <a:xfrm>
            <a:off x="10208773" y="1524181"/>
            <a:ext cx="1388223" cy="636298"/>
          </a:xfrm>
          <a:prstGeom prst="rect">
            <a:avLst/>
          </a:prstGeom>
        </p:spPr>
      </p:pic>
      <p:pic>
        <p:nvPicPr>
          <p:cNvPr id="34" name="scissors"/>
          <p:cNvPicPr/>
          <p:nvPr/>
        </p:nvPicPr>
        <p:blipFill>
          <a:blip r:embed="rId16"/>
          <a:stretch>
            <a:fillRect/>
          </a:stretch>
        </p:blipFill>
        <p:spPr>
          <a:xfrm>
            <a:off x="2154545" y="4523284"/>
            <a:ext cx="1012859" cy="2037369"/>
          </a:xfrm>
          <a:prstGeom prst="rect">
            <a:avLst/>
          </a:prstGeom>
        </p:spPr>
      </p:pic>
      <p:pic>
        <p:nvPicPr>
          <p:cNvPr id="35" name="badge"/>
          <p:cNvPicPr/>
          <p:nvPr/>
        </p:nvPicPr>
        <p:blipFill>
          <a:blip r:embed="rId17"/>
          <a:stretch>
            <a:fillRect/>
          </a:stretch>
        </p:blipFill>
        <p:spPr>
          <a:xfrm>
            <a:off x="3180916" y="4468085"/>
            <a:ext cx="1013922" cy="951502"/>
          </a:xfrm>
          <a:prstGeom prst="rect">
            <a:avLst/>
          </a:prstGeom>
        </p:spPr>
      </p:pic>
      <p:pic>
        <p:nvPicPr>
          <p:cNvPr id="36" name="helmet-source"/>
          <p:cNvPicPr/>
          <p:nvPr/>
        </p:nvPicPr>
        <p:blipFill>
          <a:blip r:embed="rId18"/>
          <a:stretch>
            <a:fillRect/>
          </a:stretch>
        </p:blipFill>
        <p:spPr>
          <a:xfrm>
            <a:off x="3211838" y="5364963"/>
            <a:ext cx="930326" cy="1173982"/>
          </a:xfrm>
          <a:prstGeom prst="rect">
            <a:avLst/>
          </a:prstGeom>
        </p:spPr>
      </p:pic>
      <p:pic>
        <p:nvPicPr>
          <p:cNvPr id="37" name="wrench"/>
          <p:cNvPicPr/>
          <p:nvPr/>
        </p:nvPicPr>
        <p:blipFill>
          <a:blip r:embed="rId19"/>
          <a:stretch>
            <a:fillRect/>
          </a:stretch>
        </p:blipFill>
        <p:spPr>
          <a:xfrm>
            <a:off x="4052897" y="5901362"/>
            <a:ext cx="1686902" cy="644671"/>
          </a:xfrm>
          <a:prstGeom prst="rect">
            <a:avLst/>
          </a:prstGeom>
        </p:spPr>
      </p:pic>
      <p:pic>
        <p:nvPicPr>
          <p:cNvPr id="38" name="calculator"/>
          <p:cNvPicPr/>
          <p:nvPr/>
        </p:nvPicPr>
        <p:blipFill>
          <a:blip r:embed="rId20"/>
          <a:stretch>
            <a:fillRect/>
          </a:stretch>
        </p:blipFill>
        <p:spPr>
          <a:xfrm>
            <a:off x="6357712" y="4692471"/>
            <a:ext cx="952609" cy="1231618"/>
          </a:xfrm>
          <a:prstGeom prst="rect">
            <a:avLst/>
          </a:prstGeom>
        </p:spPr>
      </p:pic>
      <p:pic>
        <p:nvPicPr>
          <p:cNvPr id="39" name="stapler"/>
          <p:cNvPicPr/>
          <p:nvPr/>
        </p:nvPicPr>
        <p:blipFill>
          <a:blip r:embed="rId21"/>
          <a:stretch>
            <a:fillRect/>
          </a:stretch>
        </p:blipFill>
        <p:spPr>
          <a:xfrm>
            <a:off x="6386774" y="5833670"/>
            <a:ext cx="918320" cy="601522"/>
          </a:xfrm>
          <a:prstGeom prst="rect">
            <a:avLst/>
          </a:prstGeom>
        </p:spPr>
      </p:pic>
      <p:pic>
        <p:nvPicPr>
          <p:cNvPr id="40" name="ring-calendar"/>
          <p:cNvPicPr/>
          <p:nvPr/>
        </p:nvPicPr>
        <p:blipFill>
          <a:blip r:embed="rId22"/>
          <a:stretch>
            <a:fillRect/>
          </a:stretch>
        </p:blipFill>
        <p:spPr>
          <a:xfrm>
            <a:off x="9317078" y="4800123"/>
            <a:ext cx="768227" cy="805308"/>
          </a:xfrm>
          <a:prstGeom prst="rect">
            <a:avLst/>
          </a:prstGeom>
        </p:spPr>
      </p:pic>
      <p:pic>
        <p:nvPicPr>
          <p:cNvPr id="41" name="video-monitor"/>
          <p:cNvPicPr/>
          <p:nvPr/>
        </p:nvPicPr>
        <p:blipFill>
          <a:blip r:embed="rId23"/>
          <a:stretch>
            <a:fillRect/>
          </a:stretch>
        </p:blipFill>
        <p:spPr>
          <a:xfrm>
            <a:off x="9368379" y="5717822"/>
            <a:ext cx="755247" cy="749887"/>
          </a:xfrm>
          <a:prstGeom prst="rect">
            <a:avLst/>
          </a:prstGeom>
        </p:spPr>
      </p:pic>
      <p:pic>
        <p:nvPicPr>
          <p:cNvPr id="42" name="brand-logo"/>
          <p:cNvPicPr/>
          <p:nvPr/>
        </p:nvPicPr>
        <p:blipFill>
          <a:blip r:embed="rId24"/>
          <a:stretch>
            <a:fillRect/>
          </a:stretch>
        </p:blipFill>
        <p:spPr>
          <a:xfrm>
            <a:off x="11274128" y="6656255"/>
            <a:ext cx="888550" cy="15882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904952" y="258849"/>
            <a:ext cx="8393707" cy="4286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2625" b="1">
                <a:solidFill>
                  <a:srgbClr val="D46A85"/>
                </a:solidFill>
                <a:latin typeface="Noto Sans CJK KR"/>
                <a:ea typeface="Noto Sans CJK KR"/>
                <a:cs typeface="Noto Sans CJK KR"/>
              </a:rPr>
              <a:t>2024년 산업안전보건교육 주요 개정 및 교육 체계 핵심 요약</a:t>
            </a:r>
            <a:endParaRPr lang="ko-KR" sz="2625"/>
          </a:p>
        </p:txBody>
      </p:sp>
      <p:sp>
        <p:nvSpPr>
          <p:cNvPr id="44" name="TextBox 44"/>
          <p:cNvSpPr txBox="1"/>
          <p:nvPr/>
        </p:nvSpPr>
        <p:spPr>
          <a:xfrm>
            <a:off x="2815741" y="723170"/>
            <a:ext cx="6578022" cy="2321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2024년 시행 법령 및 교육규정에 따른 핵심 개정 사항과 근로자 대상별 필수 법정 교육시간을 정리한 자료.</a:t>
            </a:r>
            <a:endParaRPr lang="ko-KR" sz="1172"/>
          </a:p>
        </p:txBody>
      </p:sp>
      <p:sp>
        <p:nvSpPr>
          <p:cNvPr id="45" name="TextBox 45"/>
          <p:cNvSpPr txBox="1"/>
          <p:nvPr/>
        </p:nvSpPr>
        <p:spPr>
          <a:xfrm>
            <a:off x="2815741" y="937455"/>
            <a:ext cx="6578022" cy="2321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정기교육 주기 완화 및 단기근로자 교육시간 감면 등 현장 부담을 줄이고 실효성을 높인 주요 변경점을 포함.</a:t>
            </a:r>
            <a:endParaRPr lang="ko-KR" sz="1172"/>
          </a:p>
        </p:txBody>
      </p:sp>
      <p:sp>
        <p:nvSpPr>
          <p:cNvPr id="46" name="TextBox 46"/>
          <p:cNvSpPr txBox="1"/>
          <p:nvPr/>
        </p:nvSpPr>
        <p:spPr>
          <a:xfrm>
            <a:off x="1041787" y="2187591"/>
            <a:ext cx="1190595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969" b="1">
                <a:solidFill>
                  <a:srgbClr val="D46A85"/>
                </a:solidFill>
                <a:latin typeface="Noto Sans CJK KR"/>
                <a:ea typeface="Noto Sans CJK KR"/>
                <a:cs typeface="Noto Sans CJK KR"/>
              </a:rPr>
              <a:t>2024년</a:t>
            </a:r>
            <a:endParaRPr lang="ko-KR" sz="1969"/>
          </a:p>
        </p:txBody>
      </p:sp>
      <p:sp>
        <p:nvSpPr>
          <p:cNvPr id="47" name="TextBox 47"/>
          <p:cNvSpPr txBox="1"/>
          <p:nvPr/>
        </p:nvSpPr>
        <p:spPr>
          <a:xfrm>
            <a:off x="1006036" y="2467398"/>
            <a:ext cx="1250136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969" b="1">
                <a:solidFill>
                  <a:srgbClr val="D46A85"/>
                </a:solidFill>
                <a:latin typeface="Noto Sans CJK KR"/>
                <a:ea typeface="Noto Sans CJK KR"/>
                <a:cs typeface="Noto Sans CJK KR"/>
              </a:rPr>
              <a:t>교육 규정</a:t>
            </a:r>
            <a:endParaRPr lang="ko-KR" sz="1969"/>
          </a:p>
        </p:txBody>
      </p:sp>
      <p:sp>
        <p:nvSpPr>
          <p:cNvPr id="48" name="TextBox 48"/>
          <p:cNvSpPr txBox="1"/>
          <p:nvPr/>
        </p:nvSpPr>
        <p:spPr>
          <a:xfrm>
            <a:off x="1000100" y="2735287"/>
            <a:ext cx="1256072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969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주요 개정</a:t>
            </a:r>
            <a:endParaRPr lang="ko-KR" sz="1969"/>
          </a:p>
        </p:txBody>
      </p:sp>
      <p:sp>
        <p:nvSpPr>
          <p:cNvPr id="49" name="TextBox 49"/>
          <p:cNvSpPr txBox="1"/>
          <p:nvPr/>
        </p:nvSpPr>
        <p:spPr>
          <a:xfrm>
            <a:off x="1214385" y="3009113"/>
            <a:ext cx="773898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969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사항</a:t>
            </a:r>
            <a:endParaRPr lang="ko-KR" sz="1969"/>
          </a:p>
        </p:txBody>
      </p:sp>
      <p:sp>
        <p:nvSpPr>
          <p:cNvPr id="50" name="TextBox 50"/>
          <p:cNvSpPr txBox="1"/>
          <p:nvPr/>
        </p:nvSpPr>
        <p:spPr>
          <a:xfrm>
            <a:off x="3399144" y="2098280"/>
            <a:ext cx="2238319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4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정기교육 주기 완화 (매분기 → 매반기)</a:t>
            </a:r>
            <a:endParaRPr lang="ko-KR" sz="1140"/>
          </a:p>
        </p:txBody>
      </p:sp>
      <p:sp>
        <p:nvSpPr>
          <p:cNvPr id="51" name="TextBox 51"/>
          <p:cNvSpPr txBox="1"/>
          <p:nvPr/>
        </p:nvSpPr>
        <p:spPr>
          <a:xfrm>
            <a:off x="3411061" y="2348316"/>
            <a:ext cx="2321650" cy="1726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근로자 정기안전보건교육 주기가 매반기 단위로 확대</a:t>
            </a:r>
            <a:endParaRPr lang="ko-KR" sz="844"/>
          </a:p>
        </p:txBody>
      </p:sp>
      <p:sp>
        <p:nvSpPr>
          <p:cNvPr id="52" name="TextBox 52"/>
          <p:cNvSpPr txBox="1"/>
          <p:nvPr/>
        </p:nvSpPr>
        <p:spPr>
          <a:xfrm>
            <a:off x="4089711" y="2628123"/>
            <a:ext cx="1178678" cy="1964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단기 및 일용근로자</a:t>
            </a:r>
            <a:endParaRPr lang="ko-KR" sz="1125"/>
          </a:p>
        </p:txBody>
      </p:sp>
      <p:sp>
        <p:nvSpPr>
          <p:cNvPr id="53" name="TextBox 53"/>
          <p:cNvSpPr txBox="1"/>
          <p:nvPr/>
        </p:nvSpPr>
        <p:spPr>
          <a:xfrm>
            <a:off x="4089711" y="2800764"/>
            <a:ext cx="1178678" cy="1964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교육시간 부담 완화</a:t>
            </a:r>
            <a:endParaRPr lang="ko-KR" sz="1125"/>
          </a:p>
        </p:txBody>
      </p:sp>
      <p:sp>
        <p:nvSpPr>
          <p:cNvPr id="54" name="TextBox 54"/>
          <p:cNvSpPr txBox="1"/>
          <p:nvPr/>
        </p:nvSpPr>
        <p:spPr>
          <a:xfrm>
            <a:off x="4089711" y="3032903"/>
            <a:ext cx="1660897" cy="160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계약기간 1주일 이하 1시간,</a:t>
            </a:r>
            <a:endParaRPr lang="ko-KR" sz="844"/>
          </a:p>
        </p:txBody>
      </p:sp>
      <p:sp>
        <p:nvSpPr>
          <p:cNvPr id="55" name="TextBox 55"/>
          <p:cNvSpPr txBox="1"/>
          <p:nvPr/>
        </p:nvSpPr>
        <p:spPr>
          <a:xfrm>
            <a:off x="4089711" y="3169838"/>
            <a:ext cx="1732311" cy="160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1개월 이하 4시간 (채용 시 감면)</a:t>
            </a:r>
            <a:endParaRPr lang="ko-KR" sz="844"/>
          </a:p>
        </p:txBody>
      </p:sp>
      <p:sp>
        <p:nvSpPr>
          <p:cNvPr id="56" name="TextBox 56"/>
          <p:cNvSpPr txBox="1"/>
          <p:nvPr/>
        </p:nvSpPr>
        <p:spPr>
          <a:xfrm>
            <a:off x="4089711" y="3407957"/>
            <a:ext cx="1696604" cy="1964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직무 보수교육 이수기간 확대</a:t>
            </a:r>
            <a:endParaRPr lang="ko-KR" sz="1125"/>
          </a:p>
        </p:txBody>
      </p:sp>
      <p:sp>
        <p:nvSpPr>
          <p:cNvPr id="57" name="TextBox 57"/>
          <p:cNvSpPr txBox="1"/>
          <p:nvPr/>
        </p:nvSpPr>
        <p:spPr>
          <a:xfrm>
            <a:off x="4089711" y="3580599"/>
            <a:ext cx="1684687" cy="1964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(총 6개월 → 총 1년)</a:t>
            </a:r>
            <a:endParaRPr lang="ko-KR" sz="1125"/>
          </a:p>
        </p:txBody>
      </p:sp>
      <p:sp>
        <p:nvSpPr>
          <p:cNvPr id="58" name="TextBox 58"/>
          <p:cNvSpPr txBox="1"/>
          <p:nvPr/>
        </p:nvSpPr>
        <p:spPr>
          <a:xfrm>
            <a:off x="4089711" y="3818718"/>
            <a:ext cx="1827558" cy="1666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신규교육 이수일 기준 전후 6개월 이내로</a:t>
            </a:r>
            <a:endParaRPr lang="ko-KR" sz="844"/>
          </a:p>
        </p:txBody>
      </p:sp>
      <p:sp>
        <p:nvSpPr>
          <p:cNvPr id="59" name="TextBox 59"/>
          <p:cNvSpPr txBox="1"/>
          <p:nvPr/>
        </p:nvSpPr>
        <p:spPr>
          <a:xfrm>
            <a:off x="4089711" y="3955653"/>
            <a:ext cx="1309633" cy="1666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이수 기한 연장</a:t>
            </a:r>
            <a:endParaRPr lang="ko-KR" sz="844"/>
          </a:p>
        </p:txBody>
      </p:sp>
      <p:sp>
        <p:nvSpPr>
          <p:cNvPr id="60" name="TextBox 60"/>
          <p:cNvSpPr txBox="1"/>
          <p:nvPr/>
        </p:nvSpPr>
        <p:spPr>
          <a:xfrm>
            <a:off x="8387727" y="2312609"/>
            <a:ext cx="1452548" cy="33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875" b="1">
                <a:solidFill>
                  <a:srgbClr val="D46A85"/>
                </a:solidFill>
                <a:latin typeface="Noto Sans CJK KR"/>
                <a:ea typeface="Noto Sans CJK KR"/>
                <a:cs typeface="Noto Sans CJK KR"/>
              </a:rPr>
              <a:t>근로자 유형별</a:t>
            </a:r>
            <a:endParaRPr lang="ko-KR" sz="1875"/>
          </a:p>
        </p:txBody>
      </p:sp>
      <p:sp>
        <p:nvSpPr>
          <p:cNvPr id="61" name="TextBox 61"/>
          <p:cNvSpPr txBox="1"/>
          <p:nvPr/>
        </p:nvSpPr>
        <p:spPr>
          <a:xfrm>
            <a:off x="8375854" y="2586435"/>
            <a:ext cx="1470402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875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법정 교육시간</a:t>
            </a:r>
            <a:endParaRPr lang="ko-KR" sz="1875"/>
          </a:p>
        </p:txBody>
      </p:sp>
      <p:sp>
        <p:nvSpPr>
          <p:cNvPr id="62" name="TextBox 62"/>
          <p:cNvSpPr txBox="1"/>
          <p:nvPr/>
        </p:nvSpPr>
        <p:spPr>
          <a:xfrm>
            <a:off x="8715157" y="2872178"/>
            <a:ext cx="785815" cy="3393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875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기준</a:t>
            </a:r>
            <a:endParaRPr lang="ko-KR" sz="1875"/>
          </a:p>
        </p:txBody>
      </p:sp>
      <p:sp>
        <p:nvSpPr>
          <p:cNvPr id="63" name="TextBox 63"/>
          <p:cNvSpPr txBox="1"/>
          <p:nvPr/>
        </p:nvSpPr>
        <p:spPr>
          <a:xfrm>
            <a:off x="946540" y="4878359"/>
            <a:ext cx="1041787" cy="32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734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채용 시</a:t>
            </a:r>
            <a:endParaRPr lang="ko-KR" sz="1734"/>
          </a:p>
        </p:txBody>
      </p:sp>
      <p:sp>
        <p:nvSpPr>
          <p:cNvPr id="64" name="TextBox 64"/>
          <p:cNvSpPr txBox="1"/>
          <p:nvPr/>
        </p:nvSpPr>
        <p:spPr>
          <a:xfrm>
            <a:off x="767917" y="5146204"/>
            <a:ext cx="1398944" cy="32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734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및 작업내용</a:t>
            </a:r>
            <a:endParaRPr lang="ko-KR" sz="1734"/>
          </a:p>
        </p:txBody>
      </p:sp>
      <p:sp>
        <p:nvSpPr>
          <p:cNvPr id="65" name="TextBox 65"/>
          <p:cNvSpPr txBox="1"/>
          <p:nvPr/>
        </p:nvSpPr>
        <p:spPr>
          <a:xfrm>
            <a:off x="934623" y="5414093"/>
            <a:ext cx="1071558" cy="32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734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변경 시</a:t>
            </a:r>
            <a:endParaRPr lang="ko-KR" sz="1734"/>
          </a:p>
        </p:txBody>
      </p:sp>
      <p:sp>
        <p:nvSpPr>
          <p:cNvPr id="66" name="TextBox 66"/>
          <p:cNvSpPr txBox="1"/>
          <p:nvPr/>
        </p:nvSpPr>
        <p:spPr>
          <a:xfrm>
            <a:off x="1107265" y="5687963"/>
            <a:ext cx="744128" cy="32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734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교육</a:t>
            </a:r>
            <a:endParaRPr lang="ko-KR" sz="1734"/>
          </a:p>
        </p:txBody>
      </p:sp>
      <p:sp>
        <p:nvSpPr>
          <p:cNvPr id="67" name="TextBox 67"/>
          <p:cNvSpPr txBox="1"/>
          <p:nvPr/>
        </p:nvSpPr>
        <p:spPr>
          <a:xfrm>
            <a:off x="4250436" y="4783111"/>
            <a:ext cx="1285843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219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일반근로자 채용 시:</a:t>
            </a:r>
            <a:endParaRPr lang="ko-KR" sz="1219"/>
          </a:p>
        </p:txBody>
      </p:sp>
      <p:sp>
        <p:nvSpPr>
          <p:cNvPr id="68" name="TextBox 68"/>
          <p:cNvSpPr txBox="1"/>
          <p:nvPr/>
        </p:nvSpPr>
        <p:spPr>
          <a:xfrm>
            <a:off x="4250436" y="4985479"/>
            <a:ext cx="1262053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219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8시간 이상</a:t>
            </a:r>
            <a:endParaRPr lang="ko-KR" sz="1219"/>
          </a:p>
        </p:txBody>
      </p:sp>
      <p:sp>
        <p:nvSpPr>
          <p:cNvPr id="69" name="TextBox 69"/>
          <p:cNvSpPr txBox="1"/>
          <p:nvPr/>
        </p:nvSpPr>
        <p:spPr>
          <a:xfrm>
            <a:off x="4250436" y="5473634"/>
            <a:ext cx="1285843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219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작업내용 변경 시:</a:t>
            </a:r>
            <a:endParaRPr lang="ko-KR" sz="1219"/>
          </a:p>
        </p:txBody>
      </p:sp>
      <p:sp>
        <p:nvSpPr>
          <p:cNvPr id="70" name="TextBox 70"/>
          <p:cNvSpPr txBox="1"/>
          <p:nvPr/>
        </p:nvSpPr>
        <p:spPr>
          <a:xfrm>
            <a:off x="4250436" y="5676046"/>
            <a:ext cx="1285843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219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2시간 이상 교육</a:t>
            </a:r>
            <a:endParaRPr lang="ko-KR" sz="1219"/>
          </a:p>
        </p:txBody>
      </p:sp>
      <p:sp>
        <p:nvSpPr>
          <p:cNvPr id="71" name="TextBox 71"/>
          <p:cNvSpPr txBox="1"/>
          <p:nvPr/>
        </p:nvSpPr>
        <p:spPr>
          <a:xfrm>
            <a:off x="6994764" y="4235415"/>
            <a:ext cx="1012017" cy="2619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359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정기교육</a:t>
            </a:r>
            <a:endParaRPr lang="ko-KR" sz="1359"/>
          </a:p>
        </p:txBody>
      </p:sp>
      <p:sp>
        <p:nvSpPr>
          <p:cNvPr id="72" name="TextBox 72"/>
          <p:cNvSpPr txBox="1"/>
          <p:nvPr/>
        </p:nvSpPr>
        <p:spPr>
          <a:xfrm>
            <a:off x="6893535" y="4443764"/>
            <a:ext cx="1202512" cy="2619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359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(매반기 기준)</a:t>
            </a:r>
            <a:endParaRPr lang="ko-KR" sz="1359"/>
          </a:p>
        </p:txBody>
      </p:sp>
      <p:sp>
        <p:nvSpPr>
          <p:cNvPr id="73" name="TextBox 73"/>
          <p:cNvSpPr txBox="1"/>
          <p:nvPr/>
        </p:nvSpPr>
        <p:spPr>
          <a:xfrm>
            <a:off x="9721193" y="4235415"/>
            <a:ext cx="1631127" cy="2619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359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관리감독자 정기교육</a:t>
            </a:r>
            <a:endParaRPr lang="ko-KR" sz="1359"/>
          </a:p>
        </p:txBody>
      </p:sp>
      <p:sp>
        <p:nvSpPr>
          <p:cNvPr id="74" name="TextBox 74"/>
          <p:cNvSpPr txBox="1"/>
          <p:nvPr/>
        </p:nvSpPr>
        <p:spPr>
          <a:xfrm>
            <a:off x="9971230" y="4443764"/>
            <a:ext cx="1137035" cy="2619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ko-KR" spc="0" sz="1359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(연간 기준)</a:t>
            </a:r>
            <a:endParaRPr lang="ko-KR" sz="1359"/>
          </a:p>
        </p:txBody>
      </p:sp>
      <p:sp>
        <p:nvSpPr>
          <p:cNvPr id="75" name="TextBox 75"/>
          <p:cNvSpPr txBox="1"/>
          <p:nvPr/>
        </p:nvSpPr>
        <p:spPr>
          <a:xfrm>
            <a:off x="7375754" y="4973606"/>
            <a:ext cx="1190595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사무직·판매직:</a:t>
            </a:r>
            <a:endParaRPr lang="ko-KR" sz="1172"/>
          </a:p>
        </p:txBody>
      </p:sp>
      <p:sp>
        <p:nvSpPr>
          <p:cNvPr id="76" name="TextBox 76"/>
          <p:cNvSpPr txBox="1"/>
          <p:nvPr/>
        </p:nvSpPr>
        <p:spPr>
          <a:xfrm>
            <a:off x="7375754" y="5170038"/>
            <a:ext cx="1190595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매반기 6시간 이상</a:t>
            </a:r>
            <a:endParaRPr lang="ko-KR" sz="1172"/>
          </a:p>
        </p:txBody>
      </p:sp>
      <p:sp>
        <p:nvSpPr>
          <p:cNvPr id="77" name="TextBox 77"/>
          <p:cNvSpPr txBox="1"/>
          <p:nvPr/>
        </p:nvSpPr>
        <p:spPr>
          <a:xfrm>
            <a:off x="7375754" y="5860605"/>
            <a:ext cx="1244155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그 외 근로자:</a:t>
            </a:r>
            <a:endParaRPr lang="ko-KR" sz="1172"/>
          </a:p>
        </p:txBody>
      </p:sp>
      <p:sp>
        <p:nvSpPr>
          <p:cNvPr id="78" name="TextBox 78"/>
          <p:cNvSpPr txBox="1"/>
          <p:nvPr/>
        </p:nvSpPr>
        <p:spPr>
          <a:xfrm>
            <a:off x="7375754" y="6057037"/>
            <a:ext cx="1244155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매반기 12시간 이상</a:t>
            </a:r>
            <a:endParaRPr lang="ko-KR" sz="1172"/>
          </a:p>
        </p:txBody>
      </p:sp>
      <p:sp>
        <p:nvSpPr>
          <p:cNvPr id="79" name="TextBox 79"/>
          <p:cNvSpPr txBox="1"/>
          <p:nvPr/>
        </p:nvSpPr>
        <p:spPr>
          <a:xfrm>
            <a:off x="10155788" y="5068854"/>
            <a:ext cx="1422778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연간 16시간 이상 이수</a:t>
            </a:r>
            <a:endParaRPr lang="ko-KR" sz="1172"/>
          </a:p>
        </p:txBody>
      </p:sp>
      <p:sp>
        <p:nvSpPr>
          <p:cNvPr id="80" name="TextBox 80"/>
          <p:cNvSpPr txBox="1"/>
          <p:nvPr/>
        </p:nvSpPr>
        <p:spPr>
          <a:xfrm>
            <a:off x="10155788" y="5866542"/>
            <a:ext cx="1422778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50% 이상 집체·현장·</a:t>
            </a:r>
            <a:endParaRPr lang="ko-KR" sz="1172"/>
          </a:p>
        </p:txBody>
      </p:sp>
      <p:sp>
        <p:nvSpPr>
          <p:cNvPr id="81" name="TextBox 81"/>
          <p:cNvSpPr txBox="1"/>
          <p:nvPr/>
        </p:nvSpPr>
        <p:spPr>
          <a:xfrm>
            <a:off x="10155788" y="6062973"/>
            <a:ext cx="1422778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ko-KR" spc="0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실시간 비대면 교육</a:t>
            </a:r>
            <a:endParaRPr lang="ko-KR" sz="117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