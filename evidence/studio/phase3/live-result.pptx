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6096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4년_산업안전보건교육_주요_개정_요약.png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496186"/>
            <a:ext cx="9144000" cy="51036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BE5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로컬 복원 배경 · 검토 필요"/>
          <p:cNvPicPr/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 rot="0">
            <a:off x="0" y="496186"/>
            <a:ext cx="9144000" cy="5103628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 rot="0">
            <a:off x="1453896" y="715642"/>
            <a:ext cx="6227064" cy="239871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1647" b="1">
                <a:solidFill>
                  <a:srgbClr val="C13B56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2024년 산업안전보건교육 주요 개정 및 교육 체계 핵심 요약</a:t>
            </a:r>
            <a:endParaRPr lang="ko-KR" sz="1647"/>
          </a:p>
        </p:txBody>
      </p:sp>
      <p:sp>
        <p:nvSpPr>
          <p:cNvPr id="4" name="TextBox 4"/>
          <p:cNvSpPr txBox="1"/>
          <p:nvPr/>
        </p:nvSpPr>
        <p:spPr>
          <a:xfrm rot="0">
            <a:off x="2121408" y="1047378"/>
            <a:ext cx="4892040" cy="29601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803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2024년 시행 법령 및 교육규정에 따른 핵심 개정 사항과 근로자 대상별 필수 법정 교육시간을 정리한 자료.</a:t>
            </a:r>
            <a:endParaRPr lang="ko-KR" sz="803"/>
          </a:p>
          <a:p>
            <a:pPr algn="ctr"/>
            <a:r>
              <a:rPr lang="ko-KR" spc="0" sz="803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정기교육 주기 완화 및 단기근로자 교육시간 감면 등 현장 부담을 줄이고 실효성을 높인 주요 변경점을 포함.</a:t>
            </a:r>
            <a:endParaRPr lang="ko-KR" sz="803"/>
          </a:p>
        </p:txBody>
      </p:sp>
      <p:sp>
        <p:nvSpPr>
          <p:cNvPr id="5" name="TextBox 5"/>
          <p:cNvSpPr txBox="1"/>
          <p:nvPr/>
        </p:nvSpPr>
        <p:spPr>
          <a:xfrm rot="0">
            <a:off x="786384" y="2159969"/>
            <a:ext cx="667512" cy="75023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1326" b="1">
                <a:solidFill>
                  <a:srgbClr val="C9354D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2024년</a:t>
            </a:r>
            <a:endParaRPr lang="ko-KR" sz="1326"/>
          </a:p>
          <a:p>
            <a:pPr algn="ctr"/>
            <a:r>
              <a:rPr lang="ko-KR" spc="0" sz="1326" b="1">
                <a:solidFill>
                  <a:srgbClr val="C9354D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교육 규정</a:t>
            </a:r>
            <a:endParaRPr lang="ko-KR" sz="1326"/>
          </a:p>
          <a:p>
            <a:pPr algn="ctr"/>
            <a:r>
              <a:rPr lang="ko-KR" spc="0" sz="1326" b="1">
                <a:solidFill>
                  <a:srgbClr val="C9354D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주요 개정</a:t>
            </a:r>
            <a:endParaRPr lang="ko-KR" sz="1326"/>
          </a:p>
          <a:p>
            <a:pPr algn="ctr"/>
            <a:r>
              <a:rPr lang="ko-KR" spc="0" sz="1326" b="1">
                <a:solidFill>
                  <a:srgbClr val="C9354D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사항</a:t>
            </a:r>
            <a:endParaRPr lang="ko-KR" sz="1326"/>
          </a:p>
        </p:txBody>
      </p:sp>
      <p:pic>
        <p:nvPicPr>
          <p:cNvPr id="6" name="근사 크롭"/>
          <p:cNvPicPr/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 rot="0">
            <a:off x="2182997" y="1632541"/>
            <a:ext cx="1761017" cy="212651"/>
          </a:xfrm>
          <a:prstGeom prst="rect">
            <a:avLst/>
          </a:prstGeom>
        </p:spPr>
      </p:pic>
      <p:pic>
        <p:nvPicPr>
          <p:cNvPr id="7" name="근사 크롭"/>
          <p:cNvPicPr/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 rot="0">
            <a:off x="2182997" y="1881741"/>
            <a:ext cx="1302488" cy="106326"/>
          </a:xfrm>
          <a:prstGeom prst="rect">
            <a:avLst/>
          </a:prstGeom>
        </p:spPr>
      </p:pic>
      <p:pic>
        <p:nvPicPr>
          <p:cNvPr id="8" name="근사 크롭"/>
          <p:cNvPicPr/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 rot="0">
            <a:off x="2202933" y="2067811"/>
            <a:ext cx="232587" cy="112971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 rot="0">
            <a:off x="2551176" y="2073207"/>
            <a:ext cx="1673352" cy="112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정기교육 주기 완화 (분기기 → 매반기)</a:t>
            </a:r>
            <a:endParaRPr lang="ko-KR" sz="803"/>
          </a:p>
        </p:txBody>
      </p:sp>
      <p:sp>
        <p:nvSpPr>
          <p:cNvPr id="10" name="TextBox 10"/>
          <p:cNvSpPr txBox="1"/>
          <p:nvPr/>
        </p:nvSpPr>
        <p:spPr>
          <a:xfrm rot="0">
            <a:off x="2542032" y="2246730"/>
            <a:ext cx="1655064" cy="91865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602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근로자 정기안전보건교육 주기가 매반기 단위로 확대</a:t>
            </a:r>
            <a:endParaRPr lang="ko-KR" sz="602"/>
          </a:p>
        </p:txBody>
      </p:sp>
      <p:pic>
        <p:nvPicPr>
          <p:cNvPr id="11" name="근사 크롭"/>
          <p:cNvPicPr/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 rot="0">
            <a:off x="2182997" y="2429983"/>
            <a:ext cx="488433" cy="471820"/>
          </a:xfrm>
          <a:prstGeom prst="rect">
            <a:avLst/>
          </a:prstGeom>
        </p:spPr>
      </p:pic>
      <p:pic>
        <p:nvPicPr>
          <p:cNvPr id="12" name="근사 크롭"/>
          <p:cNvPicPr/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 rot="0">
            <a:off x="2731238" y="2463209"/>
            <a:ext cx="222619" cy="112971"/>
          </a:xfrm>
          <a:prstGeom prst="rect">
            <a:avLst/>
          </a:prstGeom>
        </p:spPr>
      </p:pic>
      <p:pic>
        <p:nvPicPr>
          <p:cNvPr id="13" name="근사 크롭"/>
          <p:cNvPicPr/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 rot="0">
            <a:off x="2741206" y="2629343"/>
            <a:ext cx="212651" cy="25252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 rot="0">
            <a:off x="3054096" y="2476394"/>
            <a:ext cx="822960" cy="22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단기 및 일용근로자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교육시간 부담 완화</a:t>
            </a:r>
            <a:endParaRPr lang="ko-KR" sz="803"/>
          </a:p>
        </p:txBody>
      </p:sp>
      <p:sp>
        <p:nvSpPr>
          <p:cNvPr id="15" name="TextBox 15"/>
          <p:cNvSpPr txBox="1"/>
          <p:nvPr/>
        </p:nvSpPr>
        <p:spPr>
          <a:xfrm rot="0">
            <a:off x="3054096" y="2767300"/>
            <a:ext cx="1024128" cy="178627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602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계약기간 1주일 이하 1시간,</a:t>
            </a:r>
            <a:endParaRPr lang="ko-KR" sz="602"/>
          </a:p>
          <a:p>
            <a:pPr algn="l"/>
            <a:r>
              <a:rPr lang="ko-KR" spc="0" sz="602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1개월 이하 4시간 (채용 시 감면)</a:t>
            </a:r>
            <a:endParaRPr lang="ko-KR" sz="602"/>
          </a:p>
        </p:txBody>
      </p:sp>
      <p:pic>
        <p:nvPicPr>
          <p:cNvPr id="16" name="근사 크롭"/>
          <p:cNvPicPr/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 rot="0">
            <a:off x="2202933" y="3011451"/>
            <a:ext cx="458529" cy="481788"/>
          </a:xfrm>
          <a:prstGeom prst="rect">
            <a:avLst/>
          </a:prstGeom>
        </p:spPr>
      </p:pic>
      <p:pic>
        <p:nvPicPr>
          <p:cNvPr id="17" name="근사 크롭"/>
          <p:cNvPicPr/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 rot="0">
            <a:off x="2731238" y="3087872"/>
            <a:ext cx="169456" cy="355526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 rot="0">
            <a:off x="3054096" y="3063311"/>
            <a:ext cx="1234440" cy="2245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직무 보수교육 이수기간 확대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(총 6개월 → 총 1년)</a:t>
            </a:r>
            <a:endParaRPr lang="ko-KR" sz="803"/>
          </a:p>
        </p:txBody>
      </p:sp>
      <p:sp>
        <p:nvSpPr>
          <p:cNvPr id="19" name="TextBox 19"/>
          <p:cNvSpPr txBox="1"/>
          <p:nvPr/>
        </p:nvSpPr>
        <p:spPr>
          <a:xfrm rot="0">
            <a:off x="3054096" y="3344010"/>
            <a:ext cx="1280160" cy="199041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602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신규교육 이수일 기준 전후 6개월 이내로</a:t>
            </a:r>
            <a:endParaRPr lang="ko-KR" sz="602"/>
          </a:p>
          <a:p>
            <a:pPr algn="l"/>
            <a:r>
              <a:rPr lang="ko-KR" spc="0" sz="602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이수 기한 연장</a:t>
            </a:r>
            <a:endParaRPr lang="ko-KR" sz="602"/>
          </a:p>
        </p:txBody>
      </p:sp>
      <p:pic>
        <p:nvPicPr>
          <p:cNvPr id="20" name="근사 크롭"/>
          <p:cNvPicPr/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 rot="0">
            <a:off x="4844459" y="1679058"/>
            <a:ext cx="478465" cy="488433"/>
          </a:xfrm>
          <a:prstGeom prst="rect">
            <a:avLst/>
          </a:prstGeom>
        </p:spPr>
      </p:pic>
      <p:pic>
        <p:nvPicPr>
          <p:cNvPr id="21" name="근사 크롭"/>
          <p:cNvPicPr/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 rot="0">
            <a:off x="5439218" y="1576055"/>
            <a:ext cx="561532" cy="591436"/>
          </a:xfrm>
          <a:prstGeom prst="rect">
            <a:avLst/>
          </a:prstGeom>
        </p:spPr>
      </p:pic>
      <p:pic>
        <p:nvPicPr>
          <p:cNvPr id="22" name="근사 크롭"/>
          <p:cNvPicPr/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 rot="0">
            <a:off x="4844459" y="2287108"/>
            <a:ext cx="990157" cy="674503"/>
          </a:xfrm>
          <a:prstGeom prst="rect">
            <a:avLst/>
          </a:prstGeom>
        </p:spPr>
      </p:pic>
      <p:pic>
        <p:nvPicPr>
          <p:cNvPr id="23" name="근사 크롭"/>
          <p:cNvPicPr/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 rot="0">
            <a:off x="5904392" y="2526340"/>
            <a:ext cx="76422" cy="986834"/>
          </a:xfrm>
          <a:prstGeom prst="rect">
            <a:avLst/>
          </a:prstGeom>
        </p:spPr>
      </p:pic>
      <p:pic>
        <p:nvPicPr>
          <p:cNvPr id="24" name="근사 크롭"/>
          <p:cNvPicPr/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 rot="0">
            <a:off x="4844459" y="3024741"/>
            <a:ext cx="910413" cy="478465"/>
          </a:xfrm>
          <a:prstGeom prst="rect">
            <a:avLst/>
          </a:prstGeom>
        </p:spPr>
      </p:pic>
      <p:pic>
        <p:nvPicPr>
          <p:cNvPr id="25" name="근사 크롭"/>
          <p:cNvPicPr/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 rot="0">
            <a:off x="6143625" y="1649154"/>
            <a:ext cx="1345683" cy="1854052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 rot="0">
            <a:off x="6318504" y="2251834"/>
            <a:ext cx="996696" cy="56650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근로자 유형별</a:t>
            </a:r>
            <a:endParaRPr lang="ko-KR" sz="1205"/>
          </a:p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법정 교육시간</a:t>
            </a:r>
            <a:endParaRPr lang="ko-KR" sz="1205"/>
          </a:p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기준</a:t>
            </a:r>
            <a:endParaRPr lang="ko-KR" sz="1205"/>
          </a:p>
        </p:txBody>
      </p:sp>
      <p:pic>
        <p:nvPicPr>
          <p:cNvPr id="27" name="근사 크롭"/>
          <p:cNvPicPr/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 rot="0">
            <a:off x="7705282" y="1689026"/>
            <a:ext cx="863895" cy="289073"/>
          </a:xfrm>
          <a:prstGeom prst="rect">
            <a:avLst/>
          </a:prstGeom>
        </p:spPr>
      </p:pic>
      <p:pic>
        <p:nvPicPr>
          <p:cNvPr id="28" name="근사 크롭"/>
          <p:cNvPicPr/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 rot="0">
            <a:off x="7615570" y="2117651"/>
            <a:ext cx="973544" cy="1395523"/>
          </a:xfrm>
          <a:prstGeom prst="rect">
            <a:avLst/>
          </a:prstGeom>
        </p:spPr>
      </p:pic>
      <p:pic>
        <p:nvPicPr>
          <p:cNvPr id="29" name="근사 크롭"/>
          <p:cNvPicPr/>
          <p:nvPr/>
        </p:nvPicPr>
        <p:blipFill>
          <a:blip r:embed="rId19">
            <a:alphaModFix amt="100000"/>
          </a:blip>
          <a:stretch>
            <a:fillRect/>
          </a:stretch>
        </p:blipFill>
        <p:spPr>
          <a:xfrm rot="0">
            <a:off x="8648922" y="2297076"/>
            <a:ext cx="86390" cy="1103128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 rot="0">
            <a:off x="5266944" y="3691057"/>
            <a:ext cx="704088" cy="2755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964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정기교육</a:t>
            </a:r>
            <a:endParaRPr lang="ko-KR" sz="964"/>
          </a:p>
          <a:p>
            <a:pPr algn="ctr"/>
            <a:r>
              <a:rPr lang="ko-KR" spc="0" sz="964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(매반기 기준)</a:t>
            </a:r>
            <a:endParaRPr lang="ko-KR" sz="964"/>
          </a:p>
        </p:txBody>
      </p:sp>
      <p:sp>
        <p:nvSpPr>
          <p:cNvPr id="31" name="TextBox 31"/>
          <p:cNvSpPr txBox="1"/>
          <p:nvPr/>
        </p:nvSpPr>
        <p:spPr>
          <a:xfrm rot="0">
            <a:off x="7370064" y="3691057"/>
            <a:ext cx="1078992" cy="2755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964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관리감독자 정기교육</a:t>
            </a:r>
            <a:endParaRPr lang="ko-KR" sz="964"/>
          </a:p>
          <a:p>
            <a:pPr algn="ctr"/>
            <a:r>
              <a:rPr lang="ko-KR" spc="0" sz="964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(연간 기준)</a:t>
            </a:r>
            <a:endParaRPr lang="ko-KR" sz="964"/>
          </a:p>
        </p:txBody>
      </p:sp>
      <p:pic>
        <p:nvPicPr>
          <p:cNvPr id="32" name="근사 크롭"/>
          <p:cNvPicPr/>
          <p:nvPr/>
        </p:nvPicPr>
        <p:blipFill>
          <a:blip r:embed="rId20">
            <a:alphaModFix amt="100000"/>
          </a:blip>
          <a:stretch>
            <a:fillRect/>
          </a:stretch>
        </p:blipFill>
        <p:spPr>
          <a:xfrm rot="0">
            <a:off x="481788" y="3838797"/>
            <a:ext cx="1192840" cy="1425427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 rot="0">
            <a:off x="621792" y="4170798"/>
            <a:ext cx="813816" cy="755337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채용 시</a:t>
            </a:r>
            <a:endParaRPr lang="ko-KR" sz="1205"/>
          </a:p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및 작업내용</a:t>
            </a:r>
            <a:endParaRPr lang="ko-KR" sz="1205"/>
          </a:p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변경 시</a:t>
            </a:r>
            <a:endParaRPr lang="ko-KR" sz="1205"/>
          </a:p>
          <a:p>
            <a:pPr algn="ctr"/>
            <a:r>
              <a:rPr lang="ko-KR" spc="0" sz="1205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교육</a:t>
            </a:r>
            <a:endParaRPr lang="ko-KR" sz="1205"/>
          </a:p>
        </p:txBody>
      </p:sp>
      <p:pic>
        <p:nvPicPr>
          <p:cNvPr id="34" name="근사 크롭"/>
          <p:cNvPicPr/>
          <p:nvPr/>
        </p:nvPicPr>
        <p:blipFill>
          <a:blip r:embed="rId21">
            <a:alphaModFix amt="100000"/>
          </a:blip>
          <a:stretch>
            <a:fillRect/>
          </a:stretch>
        </p:blipFill>
        <p:spPr>
          <a:xfrm rot="0">
            <a:off x="1717823" y="3925186"/>
            <a:ext cx="531628" cy="1339038"/>
          </a:xfrm>
          <a:prstGeom prst="rect">
            <a:avLst/>
          </a:prstGeom>
        </p:spPr>
      </p:pic>
      <p:pic>
        <p:nvPicPr>
          <p:cNvPr id="35" name="근사 크롭"/>
          <p:cNvPicPr/>
          <p:nvPr/>
        </p:nvPicPr>
        <p:blipFill>
          <a:blip r:embed="rId22">
            <a:alphaModFix amt="100000"/>
          </a:blip>
          <a:stretch>
            <a:fillRect/>
          </a:stretch>
        </p:blipFill>
        <p:spPr>
          <a:xfrm rot="0">
            <a:off x="2475392" y="3905250"/>
            <a:ext cx="551564" cy="518337"/>
          </a:xfrm>
          <a:prstGeom prst="rect">
            <a:avLst/>
          </a:prstGeom>
        </p:spPr>
      </p:pic>
      <p:pic>
        <p:nvPicPr>
          <p:cNvPr id="36" name="근사 크롭"/>
          <p:cNvPicPr/>
          <p:nvPr/>
        </p:nvPicPr>
        <p:blipFill>
          <a:blip r:embed="rId23">
            <a:alphaModFix amt="100000"/>
          </a:blip>
          <a:stretch>
            <a:fillRect/>
          </a:stretch>
        </p:blipFill>
        <p:spPr>
          <a:xfrm rot="0">
            <a:off x="2475392" y="4573108"/>
            <a:ext cx="544919" cy="661212"/>
          </a:xfrm>
          <a:prstGeom prst="rect">
            <a:avLst/>
          </a:prstGeom>
        </p:spPr>
      </p:pic>
      <p:pic>
        <p:nvPicPr>
          <p:cNvPr id="37" name="근사 크롭"/>
          <p:cNvPicPr/>
          <p:nvPr/>
        </p:nvPicPr>
        <p:blipFill>
          <a:blip r:embed="rId24">
            <a:alphaModFix amt="100000"/>
          </a:blip>
          <a:stretch>
            <a:fillRect/>
          </a:stretch>
        </p:blipFill>
        <p:spPr>
          <a:xfrm rot="0">
            <a:off x="3096733" y="4961860"/>
            <a:ext cx="1119741" cy="282427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 rot="0">
            <a:off x="3191256" y="4084036"/>
            <a:ext cx="914400" cy="265389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일반근로자 채용 시: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8시간 이상</a:t>
            </a:r>
            <a:endParaRPr lang="ko-KR" sz="803"/>
          </a:p>
        </p:txBody>
      </p:sp>
      <p:sp>
        <p:nvSpPr>
          <p:cNvPr id="39" name="TextBox 39"/>
          <p:cNvSpPr txBox="1"/>
          <p:nvPr/>
        </p:nvSpPr>
        <p:spPr>
          <a:xfrm rot="0">
            <a:off x="3191256" y="4614814"/>
            <a:ext cx="813816" cy="25007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작업내용 변경 시: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2시간 이상 교육</a:t>
            </a:r>
            <a:endParaRPr lang="ko-KR" sz="803"/>
          </a:p>
        </p:txBody>
      </p:sp>
      <p:pic>
        <p:nvPicPr>
          <p:cNvPr id="40" name="근사 크롭"/>
          <p:cNvPicPr/>
          <p:nvPr/>
        </p:nvPicPr>
        <p:blipFill>
          <a:blip r:embed="rId25">
            <a:alphaModFix amt="100000"/>
          </a:blip>
          <a:stretch>
            <a:fillRect/>
          </a:stretch>
        </p:blipFill>
        <p:spPr>
          <a:xfrm rot="0">
            <a:off x="4844459" y="4058093"/>
            <a:ext cx="515015" cy="740956"/>
          </a:xfrm>
          <a:prstGeom prst="rect">
            <a:avLst/>
          </a:prstGeom>
        </p:spPr>
      </p:pic>
      <p:pic>
        <p:nvPicPr>
          <p:cNvPr id="41" name="근사 크롭"/>
          <p:cNvPicPr/>
          <p:nvPr/>
        </p:nvPicPr>
        <p:blipFill>
          <a:blip r:embed="rId26">
            <a:alphaModFix amt="100000"/>
          </a:blip>
          <a:stretch>
            <a:fillRect/>
          </a:stretch>
        </p:blipFill>
        <p:spPr>
          <a:xfrm rot="0">
            <a:off x="4844459" y="4895407"/>
            <a:ext cx="571500" cy="318977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 rot="0">
            <a:off x="5541264" y="4226938"/>
            <a:ext cx="859536" cy="255181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사무직·판매직: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매반기 6시간 이상</a:t>
            </a:r>
            <a:endParaRPr lang="ko-KR" sz="803"/>
          </a:p>
        </p:txBody>
      </p:sp>
      <p:sp>
        <p:nvSpPr>
          <p:cNvPr id="43" name="TextBox 43"/>
          <p:cNvSpPr txBox="1"/>
          <p:nvPr/>
        </p:nvSpPr>
        <p:spPr>
          <a:xfrm rot="0">
            <a:off x="5532120" y="4895513"/>
            <a:ext cx="914400" cy="255181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그 외 근로자:</a:t>
            </a:r>
            <a:endParaRPr lang="ko-KR" sz="803"/>
          </a:p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매반기 12시간 이상</a:t>
            </a:r>
            <a:endParaRPr lang="ko-KR" sz="803"/>
          </a:p>
        </p:txBody>
      </p:sp>
      <p:pic>
        <p:nvPicPr>
          <p:cNvPr id="44" name="근사 크롭"/>
          <p:cNvPicPr/>
          <p:nvPr/>
        </p:nvPicPr>
        <p:blipFill>
          <a:blip r:embed="rId27">
            <a:alphaModFix amt="100000"/>
          </a:blip>
          <a:stretch>
            <a:fillRect/>
          </a:stretch>
        </p:blipFill>
        <p:spPr>
          <a:xfrm rot="0">
            <a:off x="7067328" y="4134515"/>
            <a:ext cx="405366" cy="425302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 rot="0">
            <a:off x="7616952" y="4318803"/>
            <a:ext cx="1042416" cy="102073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연간 16시간 이상 이수</a:t>
            </a:r>
            <a:endParaRPr lang="ko-KR" sz="803"/>
          </a:p>
        </p:txBody>
      </p:sp>
      <p:pic>
        <p:nvPicPr>
          <p:cNvPr id="46" name="근사 크롭"/>
          <p:cNvPicPr/>
          <p:nvPr/>
        </p:nvPicPr>
        <p:blipFill>
          <a:blip r:embed="rId28">
            <a:alphaModFix amt="100000"/>
          </a:blip>
          <a:stretch>
            <a:fillRect/>
          </a:stretch>
        </p:blipFill>
        <p:spPr>
          <a:xfrm rot="0">
            <a:off x="7067328" y="4822308"/>
            <a:ext cx="415334" cy="395398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 rot="0">
            <a:off x="7616952" y="4895513"/>
            <a:ext cx="996696" cy="255181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ko-KR" spc="0" sz="803" b="1">
                <a:solidFill>
                  <a:srgbClr val="111111">
                    <a:alpha val="100000"/>
                  </a:srgbClr>
                </a:solidFill>
                <a:latin typeface="Noto Sans KR"/>
                <a:ea typeface="Noto Sans KR"/>
                <a:cs typeface="Noto Sans KR"/>
              </a:rPr>
              <a:t>실제 Gemini 결과 · 한글 수정 검증</a:t>
            </a:r>
            <a:endParaRPr lang="ko-KR" sz="803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